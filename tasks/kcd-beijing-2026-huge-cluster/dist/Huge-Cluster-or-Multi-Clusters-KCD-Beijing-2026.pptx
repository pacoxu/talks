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D1A"/>
          </a:solidFill>
          <a:ln w="12700">
            <a:solidFill>
              <a:srgbClr val="241D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98280" y="777240"/>
            <a:ext cx="2011680" cy="2011680"/>
          </a:xfrm>
          <a:prstGeom prst="ellipse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2907792"/>
            <a:ext cx="640080" cy="640080"/>
          </a:xfrm>
          <a:prstGeom prst="ellipse">
            <a:avLst/>
          </a:prstGeom>
          <a:solidFill>
            <a:srgbClr val="E8C778"/>
          </a:solidFill>
          <a:ln w="12700">
            <a:solidFill>
              <a:srgbClr val="E8C77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0" y="4983480"/>
            <a:ext cx="3108960" cy="-1600200"/>
          </a:xfrm>
          <a:prstGeom prst="line">
            <a:avLst/>
          </a:prstGeom>
          <a:noFill/>
          <a:ln w="12700">
            <a:solidFill>
              <a:srgbClr val="6B30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03720" y="4983480"/>
            <a:ext cx="2697480" cy="-1097280"/>
          </a:xfrm>
          <a:prstGeom prst="line">
            <a:avLst/>
          </a:prstGeom>
          <a:noFill/>
          <a:ln w="12700">
            <a:solidFill>
              <a:srgbClr val="6B30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18120" y="5010912"/>
            <a:ext cx="2743200" cy="-1417320"/>
          </a:xfrm>
          <a:prstGeom prst="line">
            <a:avLst/>
          </a:prstGeom>
          <a:noFill/>
          <a:ln w="12700">
            <a:solidFill>
              <a:srgbClr val="6B30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84124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C77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KCD BEIJING 2026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86384" y="1499616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Huge Cluster or Multi-Clusters?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786384" y="206654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8E3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Identifying the Bottleneck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04672" y="2834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E8DD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 AI-Infra 2025-2026 内容重构：不是先问“拆不拆集群”，而是先识别哪一层先撞墙。</a:t>
            </a:r>
            <a:endParaRPr lang="en-US" sz="1240" dirty="0"/>
          </a:p>
        </p:txBody>
      </p:sp>
      <p:sp>
        <p:nvSpPr>
          <p:cNvPr id="12" name="Shape 10"/>
          <p:cNvSpPr/>
          <p:nvPr/>
        </p:nvSpPr>
        <p:spPr>
          <a:xfrm>
            <a:off x="822960" y="4069080"/>
            <a:ext cx="1463040" cy="310896"/>
          </a:xfrm>
          <a:prstGeom prst="roundRect">
            <a:avLst>
              <a:gd name="adj" fmla="val 20588"/>
            </a:avLst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096512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CONTROL PLANE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68880" y="4069080"/>
            <a:ext cx="1243584" cy="310896"/>
          </a:xfrm>
          <a:prstGeom prst="roundRect">
            <a:avLst>
              <a:gd name="adj" fmla="val 20588"/>
            </a:avLst>
          </a:prstGeom>
          <a:solidFill>
            <a:srgbClr val="2D6E6D"/>
          </a:solidFill>
          <a:ln w="12700">
            <a:solidFill>
              <a:srgbClr val="2D6E6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42032" y="409651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SCHEDULING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95344" y="4069080"/>
            <a:ext cx="987552" cy="310896"/>
          </a:xfrm>
          <a:prstGeom prst="roundRect">
            <a:avLst>
              <a:gd name="adj" fmla="val 20588"/>
            </a:avLst>
          </a:prstGeom>
          <a:solidFill>
            <a:srgbClr val="3E6D9C"/>
          </a:solidFill>
          <a:ln w="12700">
            <a:solidFill>
              <a:srgbClr val="3E6D9C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68496" y="409651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NETWORK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84064" y="4069080"/>
            <a:ext cx="1645920" cy="310896"/>
          </a:xfrm>
          <a:prstGeom prst="roundRect">
            <a:avLst>
              <a:gd name="adj" fmla="val 20588"/>
            </a:avLst>
          </a:prstGeom>
          <a:solidFill>
            <a:srgbClr val="4E7B57"/>
          </a:solidFill>
          <a:ln w="12700">
            <a:solidFill>
              <a:srgbClr val="4E7B57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57216" y="4096512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MULTI-TENANCY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" y="5897880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DD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Paco Xu  ·  AI-Infra / Kubernetes / Cloud Native AI Infra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 w="12700">
            <a:solidFill>
              <a:srgbClr val="F7F1E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685800"/>
            <a:ext cx="1101852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310896"/>
            <a:ext cx="109728" cy="237744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77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KCD BEIJING 2026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778240" y="2468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Why Now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991088" y="182880"/>
            <a:ext cx="548640" cy="548640"/>
          </a:xfrm>
          <a:prstGeom prst="ellipse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57200"/>
            <a:ext cx="182880" cy="182880"/>
          </a:xfrm>
          <a:prstGeom prst="ellipse">
            <a:avLst/>
          </a:prstGeom>
          <a:solidFill>
            <a:srgbClr val="E8C778"/>
          </a:solidFill>
          <a:ln w="12700">
            <a:solidFill>
              <a:srgbClr val="E8C77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6327648"/>
            <a:ext cx="1097280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37336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Updated from AI-Infra repo content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1064240" y="63459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3232" y="941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THIS QUESTION STILL MATTERS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944" y="1243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讨论重点已经变了：不是“集群有多大”，而是“哪一层先成为瓶颈”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3232" y="16642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Infra 把集群扩容从单纯的平台容量问题，变成了控制面、调度、网络和租户治理的联动问题。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68096" y="2487168"/>
            <a:ext cx="2514600" cy="2432304"/>
          </a:xfrm>
          <a:prstGeom prst="roundRect">
            <a:avLst>
              <a:gd name="adj" fmla="val 3008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688" y="2633472"/>
            <a:ext cx="73152" cy="310896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78992" y="2596896"/>
            <a:ext cx="2020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对象与状态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2416" y="3017520"/>
            <a:ext cx="207568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真正放大的通常是 API 对象总数、watch 流、事件和 operator 状态机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节点数不是唯一指标，object cardinality 往往更早失控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337560" y="2487168"/>
            <a:ext cx="2514600" cy="2432304"/>
          </a:xfrm>
          <a:prstGeom prst="roundRect">
            <a:avLst>
              <a:gd name="adj" fmla="val 3008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02152" y="2633472"/>
            <a:ext cx="73152" cy="310896"/>
          </a:xfrm>
          <a:prstGeom prst="rect">
            <a:avLst/>
          </a:prstGeom>
          <a:solidFill>
            <a:srgbClr val="2D6E6D"/>
          </a:solidFill>
          <a:ln w="12700">
            <a:solidFill>
              <a:srgbClr val="2D6E6D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48456" y="2596896"/>
            <a:ext cx="2020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调度吞吐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611880" y="3017520"/>
            <a:ext cx="207568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训练 / 批处理要求更高的 pod admission 吞吐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默认 kube-scheduler 往往不是最终答案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07024" y="2487168"/>
            <a:ext cx="2514600" cy="2432304"/>
          </a:xfrm>
          <a:prstGeom prst="roundRect">
            <a:avLst>
              <a:gd name="adj" fmla="val 3008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71616" y="2633472"/>
            <a:ext cx="73152" cy="310896"/>
          </a:xfrm>
          <a:prstGeom prst="rect">
            <a:avLst/>
          </a:prstGeom>
          <a:solidFill>
            <a:srgbClr val="3E6D9C"/>
          </a:solidFill>
          <a:ln w="12700">
            <a:solidFill>
              <a:srgbClr val="3E6D9C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2596896"/>
            <a:ext cx="2020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网络与拓扑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181344" y="3017520"/>
            <a:ext cx="207568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IP 规划、DNS、跨可用区带宽和 GPU/RDMA 拓扑成为硬瓶颈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工作负载对拓扑感知比传统应用更敏感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476488" y="2487168"/>
            <a:ext cx="2514600" cy="2432304"/>
          </a:xfrm>
          <a:prstGeom prst="roundRect">
            <a:avLst>
              <a:gd name="adj" fmla="val 3008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41080" y="2633472"/>
            <a:ext cx="73152" cy="310896"/>
          </a:xfrm>
          <a:prstGeom prst="rect">
            <a:avLst/>
          </a:prstGeom>
          <a:solidFill>
            <a:srgbClr val="4E7B57"/>
          </a:solidFill>
          <a:ln w="12700">
            <a:solidFill>
              <a:srgbClr val="4E7B5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87384" y="2596896"/>
            <a:ext cx="2020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组织边界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750808" y="3017520"/>
            <a:ext cx="207568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版本自由度、CRD 冲突、安全隔离、自治权会推动多集群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很多“规模问题”最终其实是治理问题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22960" y="5340096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结论：先识别主瓶颈，再决定是继续做单大集群优化，还是走 vCluster / cell / federation。</a:t>
            </a:r>
            <a:endParaRPr lang="en-US" sz="11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 w="12700">
            <a:solidFill>
              <a:srgbClr val="F7F1E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685800"/>
            <a:ext cx="1101852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310896"/>
            <a:ext cx="109728" cy="237744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77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KCD BEIJING 2026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778240" y="2468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Industry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991088" y="182880"/>
            <a:ext cx="548640" cy="548640"/>
          </a:xfrm>
          <a:prstGeom prst="ellipse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57200"/>
            <a:ext cx="182880" cy="182880"/>
          </a:xfrm>
          <a:prstGeom prst="ellipse">
            <a:avLst/>
          </a:prstGeom>
          <a:solidFill>
            <a:srgbClr val="E8C778"/>
          </a:solidFill>
          <a:ln w="12700">
            <a:solidFill>
              <a:srgbClr val="E8C77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6327648"/>
            <a:ext cx="1097280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37336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Updated from AI-Infra repo content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1064240" y="63459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3232" y="941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CASE STUDIES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944" y="1243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 2.5K 到 130K：行业案例说明“上限”在持续抬升，但瓶颈位置并不相同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3232" y="16642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时间线来自原 deck 与 AI-Infra 仓库中整理的 Bayer、AWS、GKE、ByteDance、Ant 等案例。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14400" y="4069080"/>
            <a:ext cx="10149840" cy="0"/>
          </a:xfrm>
          <a:prstGeom prst="line">
            <a:avLst/>
          </a:prstGeom>
          <a:noFill/>
          <a:ln w="12700">
            <a:solidFill>
              <a:srgbClr val="C63C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3867912"/>
            <a:ext cx="201168" cy="201168"/>
          </a:xfrm>
          <a:prstGeom prst="ellipse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60704" y="3520440"/>
            <a:ext cx="0" cy="987552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2468880"/>
            <a:ext cx="960120" cy="868680"/>
          </a:xfrm>
          <a:prstGeom prst="roundRect">
            <a:avLst>
              <a:gd name="adj" fmla="val 6316"/>
            </a:avLst>
          </a:prstGeom>
          <a:solidFill>
            <a:srgbClr val="FFF7F3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2018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13232" y="2752344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OpenAI</a:t>
            </a:r>
            <a:endParaRPr lang="en-US" sz="840" dirty="0"/>
          </a:p>
        </p:txBody>
      </p:sp>
      <p:sp>
        <p:nvSpPr>
          <p:cNvPr id="21" name="Text 19"/>
          <p:cNvSpPr/>
          <p:nvPr/>
        </p:nvSpPr>
        <p:spPr>
          <a:xfrm>
            <a:off x="713232" y="2962656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2.5K 节点</a:t>
            </a:r>
            <a:endParaRPr lang="en-US" sz="810" dirty="0"/>
          </a:p>
        </p:txBody>
      </p:sp>
      <p:sp>
        <p:nvSpPr>
          <p:cNvPr id="22" name="Shape 20"/>
          <p:cNvSpPr/>
          <p:nvPr/>
        </p:nvSpPr>
        <p:spPr>
          <a:xfrm>
            <a:off x="2441448" y="3867912"/>
            <a:ext cx="201168" cy="201168"/>
          </a:xfrm>
          <a:prstGeom prst="ellipse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42032" y="4069080"/>
            <a:ext cx="0" cy="86868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21408" y="4279392"/>
            <a:ext cx="960120" cy="868680"/>
          </a:xfrm>
          <a:prstGeom prst="roundRect">
            <a:avLst>
              <a:gd name="adj" fmla="val 6316"/>
            </a:avLst>
          </a:prstGeom>
          <a:solidFill>
            <a:srgbClr val="FFF8EE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21992" y="43525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2020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194560" y="4562856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Bayer / GKE</a:t>
            </a:r>
            <a:endParaRPr lang="en-US" sz="840" dirty="0"/>
          </a:p>
        </p:txBody>
      </p:sp>
      <p:sp>
        <p:nvSpPr>
          <p:cNvPr id="27" name="Text 25"/>
          <p:cNvSpPr/>
          <p:nvPr/>
        </p:nvSpPr>
        <p:spPr>
          <a:xfrm>
            <a:off x="2194560" y="4773168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15K 节点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3922776" y="3867912"/>
            <a:ext cx="201168" cy="201168"/>
          </a:xfrm>
          <a:prstGeom prst="ellipse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23360" y="3520440"/>
            <a:ext cx="0" cy="987552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02736" y="2468880"/>
            <a:ext cx="960120" cy="868680"/>
          </a:xfrm>
          <a:prstGeom prst="roundRect">
            <a:avLst>
              <a:gd name="adj" fmla="val 6316"/>
            </a:avLst>
          </a:prstGeom>
          <a:solidFill>
            <a:srgbClr val="FFF7F3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03320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2022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675888" y="2752344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ByteDance</a:t>
            </a:r>
            <a:endParaRPr lang="en-US" sz="840" dirty="0"/>
          </a:p>
        </p:txBody>
      </p:sp>
      <p:sp>
        <p:nvSpPr>
          <p:cNvPr id="33" name="Text 31"/>
          <p:cNvSpPr/>
          <p:nvPr/>
        </p:nvSpPr>
        <p:spPr>
          <a:xfrm>
            <a:off x="3675888" y="2962656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20K+ 节点</a:t>
            </a:r>
            <a:endParaRPr lang="en-US" sz="810" dirty="0"/>
          </a:p>
        </p:txBody>
      </p:sp>
      <p:sp>
        <p:nvSpPr>
          <p:cNvPr id="34" name="Shape 32"/>
          <p:cNvSpPr/>
          <p:nvPr/>
        </p:nvSpPr>
        <p:spPr>
          <a:xfrm>
            <a:off x="5404104" y="3867912"/>
            <a:ext cx="201168" cy="201168"/>
          </a:xfrm>
          <a:prstGeom prst="ellipse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504688" y="4069080"/>
            <a:ext cx="0" cy="86868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84064" y="4279392"/>
            <a:ext cx="960120" cy="868680"/>
          </a:xfrm>
          <a:prstGeom prst="roundRect">
            <a:avLst>
              <a:gd name="adj" fmla="val 6316"/>
            </a:avLst>
          </a:prstGeom>
          <a:solidFill>
            <a:srgbClr val="FFF8EE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84648" y="43525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2024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157216" y="4562856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GKE</a:t>
            </a:r>
            <a:endParaRPr lang="en-US" sz="840" dirty="0"/>
          </a:p>
        </p:txBody>
      </p:sp>
      <p:sp>
        <p:nvSpPr>
          <p:cNvPr id="39" name="Text 37"/>
          <p:cNvSpPr/>
          <p:nvPr/>
        </p:nvSpPr>
        <p:spPr>
          <a:xfrm>
            <a:off x="5157216" y="4773168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65K+ 节点</a:t>
            </a:r>
            <a:endParaRPr lang="en-US" sz="810" dirty="0"/>
          </a:p>
        </p:txBody>
      </p:sp>
      <p:sp>
        <p:nvSpPr>
          <p:cNvPr id="40" name="Shape 38"/>
          <p:cNvSpPr/>
          <p:nvPr/>
        </p:nvSpPr>
        <p:spPr>
          <a:xfrm>
            <a:off x="6885432" y="3867912"/>
            <a:ext cx="201168" cy="201168"/>
          </a:xfrm>
          <a:prstGeom prst="ellipse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86016" y="3520440"/>
            <a:ext cx="0" cy="987552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65392" y="2468880"/>
            <a:ext cx="960120" cy="868680"/>
          </a:xfrm>
          <a:prstGeom prst="roundRect">
            <a:avLst>
              <a:gd name="adj" fmla="val 6316"/>
            </a:avLst>
          </a:prstGeom>
          <a:solidFill>
            <a:srgbClr val="FFF7F3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65976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2025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638544" y="2752344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AWS EKS</a:t>
            </a:r>
            <a:endParaRPr lang="en-US" sz="840" dirty="0"/>
          </a:p>
        </p:txBody>
      </p:sp>
      <p:sp>
        <p:nvSpPr>
          <p:cNvPr id="45" name="Text 43"/>
          <p:cNvSpPr/>
          <p:nvPr/>
        </p:nvSpPr>
        <p:spPr>
          <a:xfrm>
            <a:off x="6638544" y="2962656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10K 节点</a:t>
            </a:r>
            <a:endParaRPr lang="en-US" sz="810" dirty="0"/>
          </a:p>
        </p:txBody>
      </p:sp>
      <p:sp>
        <p:nvSpPr>
          <p:cNvPr id="46" name="Shape 44"/>
          <p:cNvSpPr/>
          <p:nvPr/>
        </p:nvSpPr>
        <p:spPr>
          <a:xfrm>
            <a:off x="8366760" y="3867912"/>
            <a:ext cx="201168" cy="201168"/>
          </a:xfrm>
          <a:prstGeom prst="ellipse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67344" y="4069080"/>
            <a:ext cx="0" cy="86868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046720" y="4279392"/>
            <a:ext cx="960120" cy="868680"/>
          </a:xfrm>
          <a:prstGeom prst="roundRect">
            <a:avLst>
              <a:gd name="adj" fmla="val 6316"/>
            </a:avLst>
          </a:prstGeom>
          <a:solidFill>
            <a:srgbClr val="FFF8EE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47304" y="43525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2025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8119872" y="4562856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Ant Group</a:t>
            </a:r>
            <a:endParaRPr lang="en-US" sz="840" dirty="0"/>
          </a:p>
        </p:txBody>
      </p:sp>
      <p:sp>
        <p:nvSpPr>
          <p:cNvPr id="51" name="Text 49"/>
          <p:cNvSpPr/>
          <p:nvPr/>
        </p:nvSpPr>
        <p:spPr>
          <a:xfrm>
            <a:off x="8119872" y="4773168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20K+ 节点</a:t>
            </a:r>
            <a:endParaRPr lang="en-US" sz="810" dirty="0"/>
          </a:p>
        </p:txBody>
      </p:sp>
      <p:sp>
        <p:nvSpPr>
          <p:cNvPr id="52" name="Shape 50"/>
          <p:cNvSpPr/>
          <p:nvPr/>
        </p:nvSpPr>
        <p:spPr>
          <a:xfrm>
            <a:off x="9848088" y="3867912"/>
            <a:ext cx="201168" cy="201168"/>
          </a:xfrm>
          <a:prstGeom prst="ellipse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948672" y="3520440"/>
            <a:ext cx="0" cy="987552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528048" y="2468880"/>
            <a:ext cx="960120" cy="868680"/>
          </a:xfrm>
          <a:prstGeom prst="roundRect">
            <a:avLst>
              <a:gd name="adj" fmla="val 6316"/>
            </a:avLst>
          </a:prstGeom>
          <a:solidFill>
            <a:srgbClr val="FFF7F3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28632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2025+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9601200" y="2752344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Google</a:t>
            </a:r>
            <a:endParaRPr lang="en-US" sz="840" dirty="0"/>
          </a:p>
        </p:txBody>
      </p:sp>
      <p:sp>
        <p:nvSpPr>
          <p:cNvPr id="57" name="Text 55"/>
          <p:cNvSpPr/>
          <p:nvPr/>
        </p:nvSpPr>
        <p:spPr>
          <a:xfrm>
            <a:off x="9601200" y="2962656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130K 节点架构</a:t>
            </a:r>
            <a:endParaRPr lang="en-US" sz="810" dirty="0"/>
          </a:p>
        </p:txBody>
      </p:sp>
      <p:sp>
        <p:nvSpPr>
          <p:cNvPr id="58" name="Text 56"/>
          <p:cNvSpPr/>
          <p:nvPr/>
        </p:nvSpPr>
        <p:spPr>
          <a:xfrm>
            <a:off x="877824" y="5230368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同样是“超大规模”，有的卡在 etcd / API Server，有的卡在 IP 规划，有的卡在调度冲突或多租户治理。</a:t>
            </a:r>
            <a:endParaRPr lang="en-US" sz="11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 w="12700">
            <a:solidFill>
              <a:srgbClr val="F7F1E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685800"/>
            <a:ext cx="1101852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310896"/>
            <a:ext cx="109728" cy="237744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77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KCD BEIJING 2026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778240" y="2468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Bottlenecks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991088" y="182880"/>
            <a:ext cx="548640" cy="548640"/>
          </a:xfrm>
          <a:prstGeom prst="ellipse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57200"/>
            <a:ext cx="182880" cy="182880"/>
          </a:xfrm>
          <a:prstGeom prst="ellipse">
            <a:avLst/>
          </a:prstGeom>
          <a:solidFill>
            <a:srgbClr val="E8C778"/>
          </a:solidFill>
          <a:ln w="12700">
            <a:solidFill>
              <a:srgbClr val="E8C77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6327648"/>
            <a:ext cx="1097280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37336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Updated from AI-Infra repo content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1064240" y="63459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3232" y="941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BOTTLENECK MAP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944" y="1243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超大集群常见的四类瓶颈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3232" y="16642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这四类问题几乎覆盖了单大集群与多集群选择背后的真实动因。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233172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87552" y="2478024"/>
            <a:ext cx="73152" cy="310896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33856" y="244144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1. 控制面读写压力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2862072"/>
            <a:ext cx="21214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etcd 延迟、LIST/WATCH 风暴、APF 排队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大量 operator / agent 直连 API Server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事件流与 heartbeat 频率过高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502152" y="233172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66744" y="2478024"/>
            <a:ext cx="73152" cy="310896"/>
          </a:xfrm>
          <a:prstGeom prst="rect">
            <a:avLst/>
          </a:prstGeom>
          <a:solidFill>
            <a:srgbClr val="2D6E6D"/>
          </a:solidFill>
          <a:ln w="12700">
            <a:solidFill>
              <a:srgbClr val="2D6E6D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13048" y="244144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2. 调度路径过长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776472" y="2862072"/>
            <a:ext cx="21214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默认调度器吞吐不足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GPU / NUMA / RDMA 约束提高冲突率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批量 admission 没有分层设计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81344" y="233172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45936" y="2478024"/>
            <a:ext cx="73152" cy="310896"/>
          </a:xfrm>
          <a:prstGeom prst="rect">
            <a:avLst/>
          </a:prstGeom>
          <a:solidFill>
            <a:srgbClr val="3E6D9C"/>
          </a:solidFill>
          <a:ln w="12700">
            <a:solidFill>
              <a:srgbClr val="3E6D9C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244144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3. 网络与服务发现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55664" y="2862072"/>
            <a:ext cx="21214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Pod/Service CIDR 不够用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DNS、iptables 或 nftables 同步开销过高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跨 zone / rack 带宽和延迟失衡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860536" y="233172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25128" y="2478024"/>
            <a:ext cx="73152" cy="310896"/>
          </a:xfrm>
          <a:prstGeom prst="rect">
            <a:avLst/>
          </a:prstGeom>
          <a:solidFill>
            <a:srgbClr val="4E7B57"/>
          </a:solidFill>
          <a:ln w="12700">
            <a:solidFill>
              <a:srgbClr val="4E7B5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71432" y="244144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4. 多租户治理失衡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34856" y="2862072"/>
            <a:ext cx="21214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Namespace 级隔离不够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CRD / operator 版本冲突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平台团队难以同时满足自治与一致性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 w="12700">
            <a:solidFill>
              <a:srgbClr val="F7F1E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685800"/>
            <a:ext cx="1101852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310896"/>
            <a:ext cx="109728" cy="237744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77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KCD BEIJING 2026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778240" y="2468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Single Cluster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991088" y="182880"/>
            <a:ext cx="548640" cy="548640"/>
          </a:xfrm>
          <a:prstGeom prst="ellipse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57200"/>
            <a:ext cx="182880" cy="182880"/>
          </a:xfrm>
          <a:prstGeom prst="ellipse">
            <a:avLst/>
          </a:prstGeom>
          <a:solidFill>
            <a:srgbClr val="E8C778"/>
          </a:solidFill>
          <a:ln w="12700">
            <a:solidFill>
              <a:srgbClr val="E8C77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6327648"/>
            <a:ext cx="1097280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37336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Updated from AI-Infra repo content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1064240" y="63459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3232" y="941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WHEN A HUGE CLUSTER STILL WINS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944" y="1243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单大集群成立的前提，是共享收益明显大于组织摩擦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3232" y="16642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如果这些前提不成立，继续放大一个控制面往往只会把问题放得更大。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86384" y="22677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3C3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适合继续做单大集群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09360" y="2267712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3C3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应该警惕的反信号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68096" y="2542032"/>
            <a:ext cx="5138928" cy="2615184"/>
          </a:xfrm>
          <a:prstGeom prst="roundRect">
            <a:avLst>
              <a:gd name="adj" fmla="val 279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2688" y="2688336"/>
            <a:ext cx="73152" cy="310896"/>
          </a:xfrm>
          <a:prstGeom prst="rect">
            <a:avLst/>
          </a:prstGeom>
          <a:solidFill>
            <a:srgbClr val="2D6E6D"/>
          </a:solidFill>
          <a:ln w="12700">
            <a:solidFill>
              <a:srgbClr val="2D6E6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8992" y="2651760"/>
            <a:ext cx="4645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共享效率能覆盖复杂度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42416" y="3072384"/>
            <a:ext cx="4700016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大部分团队接受统一版本窗口、统一 CRD 生命周期和统一平台策略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资源池共享收益高：峰谷互补明显，GPU/CPU 利用率提升能覆盖治理成本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主要瓶颈仍是单一技术面，例如 API 读压或调度吞吐，而不是组织自治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平台团队有能力持续做性能测试、容量规划和升级治理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36208" y="2542032"/>
            <a:ext cx="5138928" cy="2615184"/>
          </a:xfrm>
          <a:prstGeom prst="roundRect">
            <a:avLst>
              <a:gd name="adj" fmla="val 279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2688336"/>
            <a:ext cx="73152" cy="310896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47104" y="2651760"/>
            <a:ext cx="4645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组织边界已经超过平台边界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10528" y="3072384"/>
            <a:ext cx="4700016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不同业务线要求独立 Kubernetes 版本、CRD 版本或安全策略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Namespace 已经无法承载隔离诉求，甚至 kubeconfig 分发都难以治理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单控制面失败域过大，任何 admission / operator 抖动都影响全局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平台团队的目标从“共享效率”变成了“协调冲突”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 w="12700">
            <a:solidFill>
              <a:srgbClr val="F7F1E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685800"/>
            <a:ext cx="1101852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310896"/>
            <a:ext cx="109728" cy="237744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77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KCD BEIJING 2026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778240" y="2468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Control Plane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991088" y="182880"/>
            <a:ext cx="548640" cy="548640"/>
          </a:xfrm>
          <a:prstGeom prst="ellipse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57200"/>
            <a:ext cx="182880" cy="182880"/>
          </a:xfrm>
          <a:prstGeom prst="ellipse">
            <a:avLst/>
          </a:prstGeom>
          <a:solidFill>
            <a:srgbClr val="E8C778"/>
          </a:solidFill>
          <a:ln w="12700">
            <a:solidFill>
              <a:srgbClr val="E8C77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6327648"/>
            <a:ext cx="1097280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37336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Updated from AI-Infra repo content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1064240" y="63459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3232" y="941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CONTROL PLANE: FIX THE READ PATH BEFORE REPLACING EVERYTHING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944" y="1243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单大集群最先要查的，通常不是“换数据库”，而是读路径、事件路径和组件行为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3232" y="16642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AI-Infra 梳理的社区更新说明：很多过去必须靠重构解决的问题，已经有更成熟的 upstream 方案。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" y="2395728"/>
            <a:ext cx="2926080" cy="2670048"/>
          </a:xfrm>
          <a:prstGeom prst="roundRect">
            <a:avLst>
              <a:gd name="adj" fmla="val 2740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9264" y="2542032"/>
            <a:ext cx="73152" cy="310896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15568" y="2505456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先看症状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78992" y="2926080"/>
            <a:ext cx="248716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LIST / WATCH 抖动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APF 排队拉长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etcd P99 延迟飙升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operator / node agent 直连 API 过多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867912" y="2395728"/>
            <a:ext cx="3657600" cy="2670048"/>
          </a:xfrm>
          <a:prstGeom prst="roundRect">
            <a:avLst>
              <a:gd name="adj" fmla="val 2740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32504" y="2542032"/>
            <a:ext cx="73152" cy="310896"/>
          </a:xfrm>
          <a:prstGeom prst="rect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78808" y="2505456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近年的社区改进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42232" y="2926080"/>
            <a:ext cx="321868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KEP-2340: Consistent Reads from Cache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KEP-4988: Snapshottable API Server Cache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Paginated API Lists / Watch Bookmark / APF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Efficient Node Heartbeats &amp; Less Object Serializations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662672" y="2395728"/>
            <a:ext cx="3657600" cy="2670048"/>
          </a:xfrm>
          <a:prstGeom prst="roundRect">
            <a:avLst>
              <a:gd name="adj" fmla="val 2740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27264" y="2542032"/>
            <a:ext cx="73152" cy="310896"/>
          </a:xfrm>
          <a:prstGeom prst="rect">
            <a:avLst/>
          </a:prstGeom>
          <a:solidFill>
            <a:srgbClr val="2D6E6D"/>
          </a:solidFill>
          <a:ln w="12700">
            <a:solidFill>
              <a:srgbClr val="2D6E6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73568" y="2505456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工程上的第一反应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936992" y="2926080"/>
            <a:ext cx="321868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减少 Events 进入主 etcd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避免无必要的 agent 直连 API Server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调低 kubelet / controller 不合理 QPS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把性能测试覆盖到 operator 与 admission webhook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41248" y="5303520"/>
            <a:ext cx="10287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1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经验法则：如果读路径没有被系统性优化，直接讨论多集群或 etcd replacement，通常只是把根因推迟暴露。</a:t>
            </a:r>
            <a:endParaRPr lang="en-US" sz="11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 w="12700">
            <a:solidFill>
              <a:srgbClr val="F7F1E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685800"/>
            <a:ext cx="1101852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310896"/>
            <a:ext cx="109728" cy="237744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77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KCD BEIJING 2026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778240" y="2468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etcd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991088" y="182880"/>
            <a:ext cx="548640" cy="548640"/>
          </a:xfrm>
          <a:prstGeom prst="ellipse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57200"/>
            <a:ext cx="182880" cy="182880"/>
          </a:xfrm>
          <a:prstGeom prst="ellipse">
            <a:avLst/>
          </a:prstGeom>
          <a:solidFill>
            <a:srgbClr val="E8C778"/>
          </a:solidFill>
          <a:ln w="12700">
            <a:solidFill>
              <a:srgbClr val="E8C77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6327648"/>
            <a:ext cx="1097280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37336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Updated from AI-Infra repo content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1064240" y="63459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3232" y="941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ETCD IS A DECISION LADDER, NOT A BINARY SWITCH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944" y="1243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从调参到替代存储，应该按阈值逐级上升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3232" y="16642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AI-Infra 里的案例把这条路拆成了“先优化，再旁路，最后替换”。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" y="2487168"/>
            <a:ext cx="2468880" cy="2340864"/>
          </a:xfrm>
          <a:prstGeom prst="roundRect">
            <a:avLst>
              <a:gd name="adj" fmla="val 3125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9264" y="2633472"/>
            <a:ext cx="73152" cy="310896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15568" y="2596896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阶段 1: 先优化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78992" y="3017520"/>
            <a:ext cx="202996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SSD、compact/defrag、心跳与 snapshot 参数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 Events 与热点读压先挪开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核查对象大小、webhook 耗时、LIST 频率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401568" y="2487168"/>
            <a:ext cx="2468880" cy="2340864"/>
          </a:xfrm>
          <a:prstGeom prst="roundRect">
            <a:avLst>
              <a:gd name="adj" fmla="val 3125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66160" y="2633472"/>
            <a:ext cx="73152" cy="310896"/>
          </a:xfrm>
          <a:prstGeom prst="rect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12464" y="2596896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阶段 2: 读旁路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675888" y="3017520"/>
            <a:ext cx="202996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一致性缓存、Clusterpedia、只读缓存层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减少 operator 和查询场景对主 API 的依赖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把读压力和写压力拆开看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98464" y="2487168"/>
            <a:ext cx="2468880" cy="2340864"/>
          </a:xfrm>
          <a:prstGeom prst="roundRect">
            <a:avLst>
              <a:gd name="adj" fmla="val 3125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63056" y="2633472"/>
            <a:ext cx="73152" cy="310896"/>
          </a:xfrm>
          <a:prstGeom prst="rect">
            <a:avLst/>
          </a:prstGeom>
          <a:solidFill>
            <a:srgbClr val="2D6E6D"/>
          </a:solidFill>
          <a:ln w="12700">
            <a:solidFill>
              <a:srgbClr val="2D6E6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2596896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阶段 3: 替代后端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72784" y="3017520"/>
            <a:ext cx="202996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Google Spanner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ByteDance KubeBrain / TiKV 路线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Edge 场景可见 Kine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595360" y="2487168"/>
            <a:ext cx="2468880" cy="2340864"/>
          </a:xfrm>
          <a:prstGeom prst="roundRect">
            <a:avLst>
              <a:gd name="adj" fmla="val 3125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59952" y="2633472"/>
            <a:ext cx="73152" cy="310896"/>
          </a:xfrm>
          <a:prstGeom prst="rect">
            <a:avLst/>
          </a:prstGeom>
          <a:solidFill>
            <a:srgbClr val="4E7B57"/>
          </a:solidFill>
          <a:ln w="12700">
            <a:solidFill>
              <a:srgbClr val="4E7B5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06256" y="2596896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判断阈值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869680" y="3017520"/>
            <a:ext cx="202996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5K 左右：多数问题仍可在 etcd + API 层解决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20K+：开始进入替代元数据系统视野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65K+ / 130K：需要系统级架构设计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 w="12700">
            <a:solidFill>
              <a:srgbClr val="F7F1E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685800"/>
            <a:ext cx="1101852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310896"/>
            <a:ext cx="109728" cy="237744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77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KCD BEIJING 2026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778240" y="2468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Scheduling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991088" y="182880"/>
            <a:ext cx="548640" cy="548640"/>
          </a:xfrm>
          <a:prstGeom prst="ellipse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57200"/>
            <a:ext cx="182880" cy="182880"/>
          </a:xfrm>
          <a:prstGeom prst="ellipse">
            <a:avLst/>
          </a:prstGeom>
          <a:solidFill>
            <a:srgbClr val="E8C778"/>
          </a:solidFill>
          <a:ln w="12700">
            <a:solidFill>
              <a:srgbClr val="E8C77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6327648"/>
            <a:ext cx="1097280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37336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Updated from AI-Infra repo content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1064240" y="63459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08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3232" y="941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SCHEDULING: THROUGHOUT, PARTITIONING, TOPOLOGY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944" y="1243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场景下的瓶颈，往往是调度路径太长，而不是单次调度不够聪明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3232" y="16642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AI-Infra 的调度章节把重点放在吞吐、分层和拓扑感知，而不是继续堆过滤条件。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41248" y="2395728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FF8F5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27432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~100 pods/s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078992" y="3310128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默认 kube-scheduler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常见量级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999232" y="3621024"/>
            <a:ext cx="960120" cy="0"/>
          </a:xfrm>
          <a:prstGeom prst="line">
            <a:avLst/>
          </a:prstGeom>
          <a:noFill/>
          <a:ln w="12700">
            <a:solidFill>
              <a:srgbClr val="C63C3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114800" y="2340864"/>
            <a:ext cx="2852928" cy="2578608"/>
          </a:xfrm>
          <a:prstGeom prst="roundRect">
            <a:avLst>
              <a:gd name="adj" fmla="val 283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07408" y="25968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提升吞吐的三条路径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425696" y="2980944"/>
            <a:ext cx="223113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1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Optimistic concurrency</a:t>
            </a:r>
            <a:endParaRPr lang="en-US" sz="1010" dirty="0"/>
          </a:p>
          <a:p>
            <a:pPr marL="152400" indent="-152400">
              <a:buSzPct val="100000"/>
              <a:buChar char="•"/>
            </a:pPr>
            <a:r>
              <a:rPr lang="en-US" sz="101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Multi-scheduler / queue partitioning</a:t>
            </a:r>
            <a:endParaRPr lang="en-US" sz="1010" dirty="0"/>
          </a:p>
          <a:p>
            <a:pPr marL="152400" indent="-152400">
              <a:buSzPct val="100000"/>
              <a:buChar char="•"/>
            </a:pPr>
            <a:r>
              <a:rPr lang="en-US" sz="101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Hierarchical scheduling</a:t>
            </a:r>
            <a:endParaRPr lang="en-US" sz="1010" dirty="0"/>
          </a:p>
        </p:txBody>
      </p:sp>
      <p:sp>
        <p:nvSpPr>
          <p:cNvPr id="22" name="Shape 20"/>
          <p:cNvSpPr/>
          <p:nvPr/>
        </p:nvSpPr>
        <p:spPr>
          <a:xfrm>
            <a:off x="7278624" y="2340864"/>
            <a:ext cx="3840480" cy="2578608"/>
          </a:xfrm>
          <a:prstGeom prst="roundRect">
            <a:avLst>
              <a:gd name="adj" fmla="val 2837"/>
            </a:avLst>
          </a:prstGeom>
          <a:solidFill>
            <a:srgbClr val="FBF7F0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259689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常见工具组合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71232" y="2926080"/>
            <a:ext cx="31638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Gödel Scheduler: 5000 pods/s 级吞吐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Kueue / Volcano: 队列与批量 admission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Koordinator / Grove / Kai: 拓扑与 AI 资源感知</a:t>
            </a:r>
            <a:endParaRPr lang="en-US" sz="990" dirty="0"/>
          </a:p>
          <a:p>
            <a:pPr marL="152400" indent="-152400">
              <a:buSzPct val="100000"/>
              <a:buChar char="•"/>
            </a:pPr>
            <a:r>
              <a:rPr lang="en-US" sz="99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Node pool 预分区，降低冲突率和缓存失配</a:t>
            </a:r>
            <a:endParaRPr lang="en-US" sz="99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 w="12700">
            <a:solidFill>
              <a:srgbClr val="F7F1E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685800"/>
            <a:ext cx="1101852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310896"/>
            <a:ext cx="109728" cy="237744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77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KCD BEIJING 2026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778240" y="2468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Network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991088" y="182880"/>
            <a:ext cx="548640" cy="548640"/>
          </a:xfrm>
          <a:prstGeom prst="ellipse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57200"/>
            <a:ext cx="182880" cy="182880"/>
          </a:xfrm>
          <a:prstGeom prst="ellipse">
            <a:avLst/>
          </a:prstGeom>
          <a:solidFill>
            <a:srgbClr val="E8C778"/>
          </a:solidFill>
          <a:ln w="12700">
            <a:solidFill>
              <a:srgbClr val="E8C77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6327648"/>
            <a:ext cx="1097280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37336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Updated from AI-Infra repo content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1064240" y="63459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09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3232" y="941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NETWORK AND TOPOLOGY ARE OFTEN THE FIRST REAL SCALE LIMIT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944" y="1243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Bayer 15K 节点案例提醒我们：很多“集群不够大”的根因，其实是 IP 与网络模型先碰到天花板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3232" y="16642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时代还要额外考虑 GPU / NIC / RDMA 拓扑，不能再把网络当成透明背景。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41248" y="2432304"/>
            <a:ext cx="3246120" cy="2542032"/>
          </a:xfrm>
          <a:prstGeom prst="roundRect">
            <a:avLst>
              <a:gd name="adj" fmla="val 2878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578608"/>
            <a:ext cx="73152" cy="310896"/>
          </a:xfrm>
          <a:prstGeom prst="rect">
            <a:avLst/>
          </a:prstGeom>
          <a:solidFill>
            <a:srgbClr val="3E6D9C"/>
          </a:solidFill>
          <a:ln w="12700">
            <a:solidFill>
              <a:srgbClr val="3E6D9C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52144" y="254203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IP 规划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15568" y="2962656"/>
            <a:ext cx="2807208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Bayer 从 route-based networking 转到 VPC-native Alias IP，突破 1K 左右的旧上限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Regional cluster 下要提前做 subnet 和 zone 级容量规划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62272" y="2432304"/>
            <a:ext cx="3246120" cy="2542032"/>
          </a:xfrm>
          <a:prstGeom prst="roundRect">
            <a:avLst>
              <a:gd name="adj" fmla="val 2878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26864" y="2578608"/>
            <a:ext cx="73152" cy="310896"/>
          </a:xfrm>
          <a:prstGeom prst="rect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73168" y="254203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服务发现与转发表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36592" y="2962656"/>
            <a:ext cx="2807208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EndpointSlice、NodeLocal DNSCache、nftables 都是大规模场景下的重要细节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DNS 与数据面同步延迟常被低估，却会最先被应用侧放大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083296" y="2432304"/>
            <a:ext cx="3246120" cy="2542032"/>
          </a:xfrm>
          <a:prstGeom prst="roundRect">
            <a:avLst>
              <a:gd name="adj" fmla="val 2878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47888" y="2578608"/>
            <a:ext cx="73152" cy="310896"/>
          </a:xfrm>
          <a:prstGeom prst="rect">
            <a:avLst/>
          </a:prstGeom>
          <a:solidFill>
            <a:srgbClr val="2D6E6D"/>
          </a:solidFill>
          <a:ln w="12700">
            <a:solidFill>
              <a:srgbClr val="2D6E6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94192" y="254203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拓扑感知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57616" y="2962656"/>
            <a:ext cx="2807208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DRA / DRANET / NRI 路线强调网络资源也是一等资源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NUMA、PCIe、NVLink、RDMA 距离会直接决定训练与推理效率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 w="12700">
            <a:solidFill>
              <a:srgbClr val="F7F1E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685800"/>
            <a:ext cx="1101852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310896"/>
            <a:ext cx="109728" cy="237744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77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KCD BEIJING 2026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778240" y="2468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Multi-cluster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991088" y="182880"/>
            <a:ext cx="548640" cy="548640"/>
          </a:xfrm>
          <a:prstGeom prst="ellipse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57200"/>
            <a:ext cx="182880" cy="182880"/>
          </a:xfrm>
          <a:prstGeom prst="ellipse">
            <a:avLst/>
          </a:prstGeom>
          <a:solidFill>
            <a:srgbClr val="E8C778"/>
          </a:solidFill>
          <a:ln w="12700">
            <a:solidFill>
              <a:srgbClr val="E8C77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6327648"/>
            <a:ext cx="1097280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37336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Updated from AI-Infra repo content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1064240" y="63459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3232" y="941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MULTI-CLUSTER IS A GOVERNANCE CHOICE AS MUCH AS A SCALING CHOICE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944" y="1243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如果主要矛盾来自版本自由度、租户隔离和组织自治，多集群通常比继续放大一个控制面更自然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3232" y="16642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但多集群不是免费午餐，它会把资源碎片和调度层级问题带回来。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86384" y="22494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3C3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应该拆的典型信号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09360" y="2249424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3C3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拆了以后会新增什么成本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86384" y="2542032"/>
            <a:ext cx="5212080" cy="2596896"/>
          </a:xfrm>
          <a:prstGeom prst="roundRect">
            <a:avLst>
              <a:gd name="adj" fmla="val 281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0976" y="2688336"/>
            <a:ext cx="73152" cy="310896"/>
          </a:xfrm>
          <a:prstGeom prst="rect">
            <a:avLst/>
          </a:prstGeom>
          <a:solidFill>
            <a:srgbClr val="4E7B57"/>
          </a:solidFill>
          <a:ln w="12700">
            <a:solidFill>
              <a:srgbClr val="4E7B57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2651760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触发条件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60704" y="3072384"/>
            <a:ext cx="4773168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租户之间需要强隔离，Namespace + policy 已经不够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不同团队需要不同 Kubernetes / CRD / operator 生命周期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跨地域、数据主权、故障域和合规要求推动物理拆分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平台团队更需要“自治边界”，而不是继续调和统一平台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99632" y="2542032"/>
            <a:ext cx="5212080" cy="2596896"/>
          </a:xfrm>
          <a:prstGeom prst="roundRect">
            <a:avLst>
              <a:gd name="adj" fmla="val 281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64224" y="2688336"/>
            <a:ext cx="73152" cy="310896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2651760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新增代价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73952" y="3072384"/>
            <a:ext cx="4773168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平台与业务都要承担多层调度、跨集群流量和资源碎片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监控、身份、镜像、配置和升级都变成 fleet 级问题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如果没有 KubeAdmiral / MultiKueue / GitOps 体系，治理成本会迅速反噬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很多“多集群”最后又引入更高一层控制平面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 w="12700">
            <a:solidFill>
              <a:srgbClr val="F7F1E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685800"/>
            <a:ext cx="1101852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310896"/>
            <a:ext cx="109728" cy="237744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77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KCD BEIJING 2026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778240" y="2468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Spectrum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991088" y="182880"/>
            <a:ext cx="548640" cy="548640"/>
          </a:xfrm>
          <a:prstGeom prst="ellipse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57200"/>
            <a:ext cx="182880" cy="182880"/>
          </a:xfrm>
          <a:prstGeom prst="ellipse">
            <a:avLst/>
          </a:prstGeom>
          <a:solidFill>
            <a:srgbClr val="E8C778"/>
          </a:solidFill>
          <a:ln w="12700">
            <a:solidFill>
              <a:srgbClr val="E8C77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6327648"/>
            <a:ext cx="1097280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37336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Updated from AI-Infra repo content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1064240" y="63459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3232" y="941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 DO NOT NEED TO JUMP FROM NAMESPACES TO FULL FEDERATION IN ONE STEP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944" y="1243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更现实的路径，是在共享效率与隔离强度之间找中间态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3232" y="16642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vCluster、cell-based architecture、dedicated node pool 都是过渡层，而不是只有“一个大集群”或“完全多集群”两种选择。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14400" y="4160520"/>
            <a:ext cx="1024128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80160" y="4005072"/>
            <a:ext cx="292608" cy="292608"/>
          </a:xfrm>
          <a:prstGeom prst="ellipse">
            <a:avLst/>
          </a:prstGeom>
          <a:solidFill>
            <a:srgbClr val="3E6D9C"/>
          </a:solidFill>
          <a:ln w="12700">
            <a:solidFill>
              <a:srgbClr val="3E6D9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2788920"/>
            <a:ext cx="1371600" cy="822960"/>
          </a:xfrm>
          <a:prstGeom prst="roundRect">
            <a:avLst>
              <a:gd name="adj" fmla="val 666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294436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717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Namespace</a:t>
            </a:r>
            <a:endParaRPr lang="en-US" sz="96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1115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成本最低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3337560" y="4005072"/>
            <a:ext cx="292608" cy="292608"/>
          </a:xfrm>
          <a:prstGeom prst="ellipse">
            <a:avLst/>
          </a:prstGeom>
          <a:solidFill>
            <a:srgbClr val="2D6E6D"/>
          </a:solidFill>
          <a:ln w="12700">
            <a:solidFill>
              <a:srgbClr val="2D6E6D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2788920"/>
            <a:ext cx="1371600" cy="822960"/>
          </a:xfrm>
          <a:prstGeom prst="roundRect">
            <a:avLst>
              <a:gd name="adj" fmla="val 666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63240" y="294436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717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Node Pool</a:t>
            </a:r>
            <a:endParaRPr lang="en-US" sz="960" dirty="0"/>
          </a:p>
        </p:txBody>
      </p:sp>
      <p:sp>
        <p:nvSpPr>
          <p:cNvPr id="23" name="Text 21"/>
          <p:cNvSpPr/>
          <p:nvPr/>
        </p:nvSpPr>
        <p:spPr>
          <a:xfrm>
            <a:off x="3099816" y="3200400"/>
            <a:ext cx="1115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资源切片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5394960" y="4005072"/>
            <a:ext cx="292608" cy="292608"/>
          </a:xfrm>
          <a:prstGeom prst="ellipse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0" y="2788920"/>
            <a:ext cx="1371600" cy="822960"/>
          </a:xfrm>
          <a:prstGeom prst="roundRect">
            <a:avLst>
              <a:gd name="adj" fmla="val 666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0" y="294436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717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vCluster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5157216" y="3200400"/>
            <a:ext cx="1115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软隔离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7452360" y="4005072"/>
            <a:ext cx="292608" cy="292608"/>
          </a:xfrm>
          <a:prstGeom prst="ellipse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86600" y="2788920"/>
            <a:ext cx="1371600" cy="822960"/>
          </a:xfrm>
          <a:prstGeom prst="roundRect">
            <a:avLst>
              <a:gd name="adj" fmla="val 666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040" y="294436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717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Dedicated Cluster</a:t>
            </a:r>
            <a:endParaRPr lang="en-US" sz="960" dirty="0"/>
          </a:p>
        </p:txBody>
      </p:sp>
      <p:sp>
        <p:nvSpPr>
          <p:cNvPr id="31" name="Text 29"/>
          <p:cNvSpPr/>
          <p:nvPr/>
        </p:nvSpPr>
        <p:spPr>
          <a:xfrm>
            <a:off x="7214616" y="3200400"/>
            <a:ext cx="1115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强隔离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9509760" y="4005072"/>
            <a:ext cx="292608" cy="292608"/>
          </a:xfrm>
          <a:prstGeom prst="ellipse">
            <a:avLst/>
          </a:prstGeom>
          <a:solidFill>
            <a:srgbClr val="4E7B57"/>
          </a:solidFill>
          <a:ln w="12700">
            <a:solidFill>
              <a:srgbClr val="4E7B5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144000" y="2788920"/>
            <a:ext cx="1371600" cy="822960"/>
          </a:xfrm>
          <a:prstGeom prst="roundRect">
            <a:avLst>
              <a:gd name="adj" fmla="val 666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35440" y="294436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717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Federation</a:t>
            </a:r>
            <a:endParaRPr lang="en-US" sz="960" dirty="0"/>
          </a:p>
        </p:txBody>
      </p:sp>
      <p:sp>
        <p:nvSpPr>
          <p:cNvPr id="35" name="Text 33"/>
          <p:cNvSpPr/>
          <p:nvPr/>
        </p:nvSpPr>
        <p:spPr>
          <a:xfrm>
            <a:off x="9272016" y="3200400"/>
            <a:ext cx="1115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跨集群治理</a:t>
            </a:r>
            <a:endParaRPr lang="en-US" sz="810" dirty="0"/>
          </a:p>
        </p:txBody>
      </p:sp>
      <p:sp>
        <p:nvSpPr>
          <p:cNvPr id="36" name="Shape 34"/>
          <p:cNvSpPr/>
          <p:nvPr/>
        </p:nvSpPr>
        <p:spPr>
          <a:xfrm>
            <a:off x="868680" y="4663440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2D6E6D"/>
          </a:solidFill>
          <a:ln w="12700">
            <a:solidFill>
              <a:srgbClr val="2D6E6D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1832" y="4690872"/>
            <a:ext cx="813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共享效率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332720" y="4663440"/>
            <a:ext cx="1005840" cy="310896"/>
          </a:xfrm>
          <a:prstGeom prst="roundRect">
            <a:avLst>
              <a:gd name="adj" fmla="val 20588"/>
            </a:avLst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405872" y="4690872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治理复杂度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993392" y="4818888"/>
            <a:ext cx="8183880" cy="0"/>
          </a:xfrm>
          <a:prstGeom prst="line">
            <a:avLst/>
          </a:prstGeom>
          <a:noFill/>
          <a:ln w="12700">
            <a:solidFill>
              <a:srgbClr val="C63C30"/>
            </a:solidFill>
            <a:prstDash val="solid"/>
            <a:headEnd type="none"/>
            <a:tailEnd type="triangle"/>
          </a:ln>
        </p:spPr>
      </p:sp>
      <p:sp>
        <p:nvSpPr>
          <p:cNvPr id="41" name="Text 39"/>
          <p:cNvSpPr/>
          <p:nvPr/>
        </p:nvSpPr>
        <p:spPr>
          <a:xfrm>
            <a:off x="914400" y="5321808"/>
            <a:ext cx="9966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1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vCluster 适合把控制面边界先切出来，但底层资源池仍能共享</a:t>
            </a:r>
            <a:endParaRPr lang="en-US" sz="1010" dirty="0"/>
          </a:p>
          <a:p>
            <a:pPr marL="152400" indent="-152400">
              <a:buSzPct val="100000"/>
              <a:buChar char="•"/>
            </a:pPr>
            <a:r>
              <a:rPr lang="en-US" sz="101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cell / node pool 适合把 GPU 类型、网络拓扑和升级节奏先分层</a:t>
            </a:r>
            <a:endParaRPr lang="en-US" sz="1010" dirty="0"/>
          </a:p>
          <a:p>
            <a:pPr marL="152400" indent="-152400">
              <a:buSzPct val="100000"/>
              <a:buChar char="•"/>
            </a:pPr>
            <a:r>
              <a:rPr lang="en-US" sz="101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KubeAdmiral / MultiKueue 适合把真正的跨集群调度放到更高一层处理</a:t>
            </a:r>
            <a:endParaRPr lang="en-US" sz="10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 w="12700">
            <a:solidFill>
              <a:srgbClr val="F7F1E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685800"/>
            <a:ext cx="1101852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310896"/>
            <a:ext cx="109728" cy="237744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77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KCD BEIJING 2026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778240" y="2468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Decision Matrix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991088" y="182880"/>
            <a:ext cx="548640" cy="548640"/>
          </a:xfrm>
          <a:prstGeom prst="ellipse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57200"/>
            <a:ext cx="182880" cy="182880"/>
          </a:xfrm>
          <a:prstGeom prst="ellipse">
            <a:avLst/>
          </a:prstGeom>
          <a:solidFill>
            <a:srgbClr val="E8C778"/>
          </a:solidFill>
          <a:ln w="12700">
            <a:solidFill>
              <a:srgbClr val="E8C77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6327648"/>
            <a:ext cx="1097280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37336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Updated from AI-Infra repo content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1064240" y="63459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3232" y="941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 MATRIX: MAP THE BOTTLENECK TO THE FIRST MOVE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944" y="1243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不要先选答案，先判断哪一层出现了最硬的约束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3232" y="16642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下面这张表是从 AI-Infra 内容中抽出的“瓶颈 -&gt; 第一动作 -&gt; 再评估”路径。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69264" y="19385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C63C3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主瓶颈</a:t>
            </a:r>
            <a:endParaRPr lang="en-US" sz="940" dirty="0"/>
          </a:p>
        </p:txBody>
      </p:sp>
      <p:sp>
        <p:nvSpPr>
          <p:cNvPr id="16" name="Text 14"/>
          <p:cNvSpPr/>
          <p:nvPr/>
        </p:nvSpPr>
        <p:spPr>
          <a:xfrm>
            <a:off x="2542032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C63C3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信号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4846320" y="193852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C63C3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第一动作</a:t>
            </a:r>
            <a:endParaRPr lang="en-US" sz="940" dirty="0"/>
          </a:p>
        </p:txBody>
      </p:sp>
      <p:sp>
        <p:nvSpPr>
          <p:cNvPr id="18" name="Text 16"/>
          <p:cNvSpPr/>
          <p:nvPr/>
        </p:nvSpPr>
        <p:spPr>
          <a:xfrm>
            <a:off x="7918704" y="193852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C63C3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再评估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786384" y="2176272"/>
            <a:ext cx="10643616" cy="621792"/>
          </a:xfrm>
          <a:prstGeom prst="roundRect">
            <a:avLst>
              <a:gd name="adj" fmla="val 7353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2322576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C63C3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读压力</a:t>
            </a:r>
            <a:endParaRPr lang="en-US" sz="1030" dirty="0"/>
          </a:p>
        </p:txBody>
      </p:sp>
      <p:sp>
        <p:nvSpPr>
          <p:cNvPr id="21" name="Text 19"/>
          <p:cNvSpPr/>
          <p:nvPr/>
        </p:nvSpPr>
        <p:spPr>
          <a:xfrm>
            <a:off x="2542032" y="2304288"/>
            <a:ext cx="2212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LIST/WATCH 飙升</a:t>
            </a:r>
            <a:endParaRPr lang="en-US" sz="940" dirty="0"/>
          </a:p>
        </p:txBody>
      </p:sp>
      <p:sp>
        <p:nvSpPr>
          <p:cNvPr id="22" name="Text 20"/>
          <p:cNvSpPr/>
          <p:nvPr/>
        </p:nvSpPr>
        <p:spPr>
          <a:xfrm>
            <a:off x="4828032" y="2304288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读缓存、APF、热点路径削峰</a:t>
            </a:r>
            <a:endParaRPr lang="en-US" sz="940" dirty="0"/>
          </a:p>
        </p:txBody>
      </p:sp>
      <p:sp>
        <p:nvSpPr>
          <p:cNvPr id="23" name="Text 21"/>
          <p:cNvSpPr/>
          <p:nvPr/>
        </p:nvSpPr>
        <p:spPr>
          <a:xfrm>
            <a:off x="7882128" y="230428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再判断 etcd replacement</a:t>
            </a:r>
            <a:endParaRPr lang="en-US" sz="940" dirty="0"/>
          </a:p>
        </p:txBody>
      </p:sp>
      <p:sp>
        <p:nvSpPr>
          <p:cNvPr id="24" name="Shape 22"/>
          <p:cNvSpPr/>
          <p:nvPr/>
        </p:nvSpPr>
        <p:spPr>
          <a:xfrm>
            <a:off x="786384" y="2962656"/>
            <a:ext cx="10643616" cy="621792"/>
          </a:xfrm>
          <a:prstGeom prst="roundRect">
            <a:avLst>
              <a:gd name="adj" fmla="val 7353"/>
            </a:avLst>
          </a:prstGeom>
          <a:solidFill>
            <a:srgbClr val="FBF7F0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31089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C63C3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写压力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2542032" y="3090672"/>
            <a:ext cx="2212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Events / status 抖动</a:t>
            </a:r>
            <a:endParaRPr lang="en-US" sz="940" dirty="0"/>
          </a:p>
        </p:txBody>
      </p:sp>
      <p:sp>
        <p:nvSpPr>
          <p:cNvPr id="27" name="Text 25"/>
          <p:cNvSpPr/>
          <p:nvPr/>
        </p:nvSpPr>
        <p:spPr>
          <a:xfrm>
            <a:off x="4828032" y="3090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拆 Events、控频、缩小对象</a:t>
            </a:r>
            <a:endParaRPr lang="en-US" sz="940" dirty="0"/>
          </a:p>
        </p:txBody>
      </p:sp>
      <p:sp>
        <p:nvSpPr>
          <p:cNvPr id="28" name="Text 26"/>
          <p:cNvSpPr/>
          <p:nvPr/>
        </p:nvSpPr>
        <p:spPr>
          <a:xfrm>
            <a:off x="7882128" y="309067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再判断是不是 operator 设计问题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786384" y="3749040"/>
            <a:ext cx="10643616" cy="621792"/>
          </a:xfrm>
          <a:prstGeom prst="roundRect">
            <a:avLst>
              <a:gd name="adj" fmla="val 7353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38953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C63C3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调度吞吐</a:t>
            </a:r>
            <a:endParaRPr lang="en-US" sz="1030" dirty="0"/>
          </a:p>
        </p:txBody>
      </p:sp>
      <p:sp>
        <p:nvSpPr>
          <p:cNvPr id="31" name="Text 29"/>
          <p:cNvSpPr/>
          <p:nvPr/>
        </p:nvSpPr>
        <p:spPr>
          <a:xfrm>
            <a:off x="2542032" y="3877056"/>
            <a:ext cx="2212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批量 admission 堵塞</a:t>
            </a:r>
            <a:endParaRPr lang="en-US" sz="940" dirty="0"/>
          </a:p>
        </p:txBody>
      </p:sp>
      <p:sp>
        <p:nvSpPr>
          <p:cNvPr id="32" name="Text 30"/>
          <p:cNvSpPr/>
          <p:nvPr/>
        </p:nvSpPr>
        <p:spPr>
          <a:xfrm>
            <a:off x="4828032" y="387705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queue + partition + hierarchy</a:t>
            </a:r>
            <a:endParaRPr lang="en-US" sz="940" dirty="0"/>
          </a:p>
        </p:txBody>
      </p:sp>
      <p:sp>
        <p:nvSpPr>
          <p:cNvPr id="33" name="Text 31"/>
          <p:cNvSpPr/>
          <p:nvPr/>
        </p:nvSpPr>
        <p:spPr>
          <a:xfrm>
            <a:off x="7882128" y="3877056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再考虑多 scheduler / 多集群</a:t>
            </a:r>
            <a:endParaRPr lang="en-US" sz="940" dirty="0"/>
          </a:p>
        </p:txBody>
      </p:sp>
      <p:sp>
        <p:nvSpPr>
          <p:cNvPr id="34" name="Shape 32"/>
          <p:cNvSpPr/>
          <p:nvPr/>
        </p:nvSpPr>
        <p:spPr>
          <a:xfrm>
            <a:off x="786384" y="4535424"/>
            <a:ext cx="10643616" cy="621792"/>
          </a:xfrm>
          <a:prstGeom prst="roundRect">
            <a:avLst>
              <a:gd name="adj" fmla="val 7353"/>
            </a:avLst>
          </a:prstGeom>
          <a:solidFill>
            <a:srgbClr val="FBF7F0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" y="468172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C63C3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网络/IP</a:t>
            </a:r>
            <a:endParaRPr lang="en-US" sz="1030" dirty="0"/>
          </a:p>
        </p:txBody>
      </p:sp>
      <p:sp>
        <p:nvSpPr>
          <p:cNvPr id="36" name="Text 34"/>
          <p:cNvSpPr/>
          <p:nvPr/>
        </p:nvSpPr>
        <p:spPr>
          <a:xfrm>
            <a:off x="2542032" y="4663440"/>
            <a:ext cx="2212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CIDR、DNS、跨区延迟</a:t>
            </a:r>
            <a:endParaRPr lang="en-US" sz="940" dirty="0"/>
          </a:p>
        </p:txBody>
      </p:sp>
      <p:sp>
        <p:nvSpPr>
          <p:cNvPr id="37" name="Text 35"/>
          <p:cNvSpPr/>
          <p:nvPr/>
        </p:nvSpPr>
        <p:spPr>
          <a:xfrm>
            <a:off x="4828032" y="466344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先修网络模型和拓扑</a:t>
            </a:r>
            <a:endParaRPr lang="en-US" sz="940" dirty="0"/>
          </a:p>
        </p:txBody>
      </p:sp>
      <p:sp>
        <p:nvSpPr>
          <p:cNvPr id="38" name="Text 36"/>
          <p:cNvSpPr/>
          <p:nvPr/>
        </p:nvSpPr>
        <p:spPr>
          <a:xfrm>
            <a:off x="7882128" y="466344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再判断是否拆 cluster cell</a:t>
            </a:r>
            <a:endParaRPr lang="en-US" sz="940" dirty="0"/>
          </a:p>
        </p:txBody>
      </p:sp>
      <p:sp>
        <p:nvSpPr>
          <p:cNvPr id="39" name="Shape 37"/>
          <p:cNvSpPr/>
          <p:nvPr/>
        </p:nvSpPr>
        <p:spPr>
          <a:xfrm>
            <a:off x="786384" y="5321808"/>
            <a:ext cx="10643616" cy="621792"/>
          </a:xfrm>
          <a:prstGeom prst="roundRect">
            <a:avLst>
              <a:gd name="adj" fmla="val 7353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0120" y="546811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C63C3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组织自治</a:t>
            </a:r>
            <a:endParaRPr lang="en-US" sz="1030" dirty="0"/>
          </a:p>
        </p:txBody>
      </p:sp>
      <p:sp>
        <p:nvSpPr>
          <p:cNvPr id="41" name="Text 39"/>
          <p:cNvSpPr/>
          <p:nvPr/>
        </p:nvSpPr>
        <p:spPr>
          <a:xfrm>
            <a:off x="2542032" y="5449824"/>
            <a:ext cx="2212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版本 / CRD 冲突</a:t>
            </a:r>
            <a:endParaRPr lang="en-US" sz="940" dirty="0"/>
          </a:p>
        </p:txBody>
      </p:sp>
      <p:sp>
        <p:nvSpPr>
          <p:cNvPr id="42" name="Text 40"/>
          <p:cNvSpPr/>
          <p:nvPr/>
        </p:nvSpPr>
        <p:spPr>
          <a:xfrm>
            <a:off x="4828032" y="544982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vCluster / dedicated cluster</a:t>
            </a:r>
            <a:endParaRPr lang="en-US" sz="940" dirty="0"/>
          </a:p>
        </p:txBody>
      </p:sp>
      <p:sp>
        <p:nvSpPr>
          <p:cNvPr id="43" name="Text 41"/>
          <p:cNvSpPr/>
          <p:nvPr/>
        </p:nvSpPr>
        <p:spPr>
          <a:xfrm>
            <a:off x="7882128" y="544982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再引入 federation 管理层</a:t>
            </a:r>
            <a:endParaRPr lang="en-US" sz="9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 w="12700">
            <a:solidFill>
              <a:srgbClr val="F7F1E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685800"/>
            <a:ext cx="1101852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310896"/>
            <a:ext cx="109728" cy="237744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77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KCD BEIJING 2026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778240" y="2468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Roadmap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991088" y="182880"/>
            <a:ext cx="548640" cy="548640"/>
          </a:xfrm>
          <a:prstGeom prst="ellipse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57200"/>
            <a:ext cx="182880" cy="182880"/>
          </a:xfrm>
          <a:prstGeom prst="ellipse">
            <a:avLst/>
          </a:prstGeom>
          <a:solidFill>
            <a:srgbClr val="E8C778"/>
          </a:solidFill>
          <a:ln w="12700">
            <a:solidFill>
              <a:srgbClr val="E8C77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6327648"/>
            <a:ext cx="1097280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37336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Updated from AI-Infra repo content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1064240" y="63459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13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3232" y="941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RECOMMENDED EXECUTION ORDER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944" y="1243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先做诊断，再做架构选择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3232" y="16642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这不是纯理论问题。没有压测、没有 operator 画像、没有拓扑数据时，“拆不拆集群”只是猜。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2468880"/>
            <a:ext cx="2011680" cy="2240280"/>
          </a:xfrm>
          <a:prstGeom prst="roundRect">
            <a:avLst>
              <a:gd name="adj" fmla="val 3636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87552" y="2615184"/>
            <a:ext cx="73152" cy="310896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33856" y="257860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Measure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2999232"/>
            <a:ext cx="15727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做 control plane、scheduler、operator、network 全链路画像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区分 object 数、tenant 数、pod churn、node 数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17520" y="2468880"/>
            <a:ext cx="2011680" cy="2240280"/>
          </a:xfrm>
          <a:prstGeom prst="roundRect">
            <a:avLst>
              <a:gd name="adj" fmla="val 3636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2112" y="2615184"/>
            <a:ext cx="73152" cy="310896"/>
          </a:xfrm>
          <a:prstGeom prst="rect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28416" y="257860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Fix First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91840" y="2999232"/>
            <a:ext cx="15727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先修最硬的技术瓶颈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 upstream 已经解决的问题先吃满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212080" y="2468880"/>
            <a:ext cx="2011680" cy="2240280"/>
          </a:xfrm>
          <a:prstGeom prst="roundRect">
            <a:avLst>
              <a:gd name="adj" fmla="val 3636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76672" y="2615184"/>
            <a:ext cx="73152" cy="310896"/>
          </a:xfrm>
          <a:prstGeom prst="rect">
            <a:avLst/>
          </a:prstGeom>
          <a:solidFill>
            <a:srgbClr val="2D6E6D"/>
          </a:solidFill>
          <a:ln w="12700">
            <a:solidFill>
              <a:srgbClr val="2D6E6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22976" y="257860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Partition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0" y="2999232"/>
            <a:ext cx="15727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通过 node pool、queue、vCluster 或 cell 做最小必要拆分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避免一次跳到 fleet 级复杂度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406640" y="2468880"/>
            <a:ext cx="2011680" cy="2240280"/>
          </a:xfrm>
          <a:prstGeom prst="roundRect">
            <a:avLst>
              <a:gd name="adj" fmla="val 3636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71232" y="2615184"/>
            <a:ext cx="73152" cy="310896"/>
          </a:xfrm>
          <a:prstGeom prst="rect">
            <a:avLst/>
          </a:prstGeom>
          <a:solidFill>
            <a:srgbClr val="4E7B57"/>
          </a:solidFill>
          <a:ln w="12700">
            <a:solidFill>
              <a:srgbClr val="4E7B5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17536" y="257860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 Federate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680960" y="2999232"/>
            <a:ext cx="15727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确实需要多集群时，再引入 KubeAdmiral / MultiKueue 等治理层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 fleet 管理当成新平台工程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601200" y="2468880"/>
            <a:ext cx="2011680" cy="2240280"/>
          </a:xfrm>
          <a:prstGeom prst="roundRect">
            <a:avLst>
              <a:gd name="adj" fmla="val 3636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765792" y="2615184"/>
            <a:ext cx="73152" cy="310896"/>
          </a:xfrm>
          <a:prstGeom prst="rect">
            <a:avLst/>
          </a:prstGeom>
          <a:solidFill>
            <a:srgbClr val="3E6D9C"/>
          </a:solidFill>
          <a:ln w="12700">
            <a:solidFill>
              <a:srgbClr val="3E6D9C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12096" y="257860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 Re-test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875520" y="2999232"/>
            <a:ext cx="15727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重新压测并检查 blast radius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确认你解决的是主瓶颈，不是换了个形态继续放大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 w="12700">
            <a:solidFill>
              <a:srgbClr val="F7F1E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685800"/>
            <a:ext cx="1101852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310896"/>
            <a:ext cx="109728" cy="237744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77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KCD BEIJING 2026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778240" y="2468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Sources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991088" y="182880"/>
            <a:ext cx="548640" cy="548640"/>
          </a:xfrm>
          <a:prstGeom prst="ellipse">
            <a:avLst/>
          </a:prstGeom>
          <a:solidFill>
            <a:srgbClr val="F28E36"/>
          </a:solidFill>
          <a:ln w="12700">
            <a:solidFill>
              <a:srgbClr val="F28E36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57200"/>
            <a:ext cx="182880" cy="182880"/>
          </a:xfrm>
          <a:prstGeom prst="ellipse">
            <a:avLst/>
          </a:prstGeom>
          <a:solidFill>
            <a:srgbClr val="E8C778"/>
          </a:solidFill>
          <a:ln w="12700">
            <a:solidFill>
              <a:srgbClr val="E8C77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6327648"/>
            <a:ext cx="10972800" cy="0"/>
          </a:xfrm>
          <a:prstGeom prst="line">
            <a:avLst/>
          </a:prstGeom>
          <a:noFill/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37336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Updated from AI-Infra repo content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1064240" y="63459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3232" y="941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THANK YOU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944" y="1243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核心结论：先识别瓶颈，再决定单大集群、多集群还是中间态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3232" y="16642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这份更新版 deck 主要基于本地 AI-Infra 仓库中与大规模集群、多租户、调度和案例分析相关的内容整理。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59536" y="2450592"/>
            <a:ext cx="4892040" cy="2596896"/>
          </a:xfrm>
          <a:prstGeom prst="roundRect">
            <a:avLst>
              <a:gd name="adj" fmla="val 281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4128" y="2596896"/>
            <a:ext cx="73152" cy="310896"/>
          </a:xfrm>
          <a:prstGeom prst="rect">
            <a:avLst/>
          </a:prstGeom>
          <a:solidFill>
            <a:srgbClr val="C63C30"/>
          </a:solidFill>
          <a:ln w="12700">
            <a:solidFill>
              <a:srgbClr val="C63C3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70432" y="256032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本次主要引用的 AI-Infra 内容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33856" y="2980944"/>
            <a:ext cx="4453128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7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docs/kubernetes/large-scale-clusters.md</a:t>
            </a:r>
            <a:endParaRPr lang="en-US" sz="970" dirty="0"/>
          </a:p>
          <a:p>
            <a:pPr marL="152400" indent="-152400">
              <a:buSzPct val="100000"/>
              <a:buChar char="•"/>
            </a:pPr>
            <a:r>
              <a:rPr lang="en-US" sz="97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docs/kubernetes/scheduling-optimization.md</a:t>
            </a:r>
            <a:endParaRPr lang="en-US" sz="970" dirty="0"/>
          </a:p>
          <a:p>
            <a:pPr marL="152400" indent="-152400">
              <a:buSzPct val="100000"/>
              <a:buChar char="•"/>
            </a:pPr>
            <a:r>
              <a:rPr lang="en-US" sz="97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docs/blog/2026-03-13/bayer-gke-15000-nodes_zh.md</a:t>
            </a:r>
            <a:endParaRPr lang="en-US" sz="970" dirty="0"/>
          </a:p>
          <a:p>
            <a:pPr marL="152400" indent="-152400">
              <a:buSzPct val="100000"/>
              <a:buChar char="•"/>
            </a:pPr>
            <a:r>
              <a:rPr lang="en-US" sz="97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docs/blog/2025-12-15/bytedance-large-scale-k8s_zh.md</a:t>
            </a:r>
            <a:endParaRPr lang="en-US" sz="970" dirty="0"/>
          </a:p>
          <a:p>
            <a:pPr marL="152400" indent="-152400">
              <a:buSzPct val="100000"/>
              <a:buChar char="•"/>
            </a:pPr>
            <a:r>
              <a:rPr lang="en-US" sz="97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docs/blog/2025-12-15/multi-tenancy-isolation_zh.md</a:t>
            </a:r>
            <a:endParaRPr lang="en-US" sz="970" dirty="0"/>
          </a:p>
          <a:p>
            <a:pPr marL="152400" indent="-152400">
              <a:buSzPct val="100000"/>
              <a:buChar char="•"/>
            </a:pPr>
            <a:r>
              <a:rPr lang="en-US" sz="97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docs/blog/2025-12-01/aws-10k-node-clusters_zh.md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6089904" y="2450592"/>
            <a:ext cx="5230368" cy="2596896"/>
          </a:xfrm>
          <a:prstGeom prst="roundRect">
            <a:avLst>
              <a:gd name="adj" fmla="val 2817"/>
            </a:avLst>
          </a:prstGeom>
          <a:solidFill>
            <a:srgbClr val="FFFDF9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54496" y="2596896"/>
            <a:ext cx="73152" cy="310896"/>
          </a:xfrm>
          <a:prstGeom prst="rect">
            <a:avLst/>
          </a:prstGeom>
          <a:solidFill>
            <a:srgbClr val="2D6E6D"/>
          </a:solidFill>
          <a:ln w="12700">
            <a:solidFill>
              <a:srgbClr val="2D6E6D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2560320"/>
            <a:ext cx="4736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建议带走的三句话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64224" y="2980944"/>
            <a:ext cx="4791456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节点数不是唯一尺度，对象数、watch 数和租户数往往更关键。</a:t>
            </a:r>
            <a:endParaRPr lang="en-US" sz="1010" dirty="0"/>
          </a:p>
          <a:p>
            <a:pPr marL="152400" indent="-152400">
              <a:buSzPct val="100000"/>
              <a:buChar char="•"/>
            </a:pPr>
            <a:r>
              <a:rPr lang="en-US" sz="10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多集群不是性能优化按钮，而是治理边界重构。</a:t>
            </a:r>
            <a:endParaRPr lang="en-US" sz="1010" dirty="0"/>
          </a:p>
          <a:p>
            <a:pPr marL="152400" indent="-152400">
              <a:buSzPct val="100000"/>
              <a:buChar char="•"/>
            </a:pPr>
            <a:r>
              <a:rPr lang="en-US" sz="1010" dirty="0">
                <a:solidFill>
                  <a:srgbClr val="5E55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vCluster、cell、queue partitioning 是比“全拆”更现实的中间态。</a:t>
            </a:r>
            <a:endParaRPr lang="en-US" sz="1010" dirty="0"/>
          </a:p>
        </p:txBody>
      </p:sp>
      <p:sp>
        <p:nvSpPr>
          <p:cNvPr id="23" name="Text 21"/>
          <p:cNvSpPr/>
          <p:nvPr/>
        </p:nvSpPr>
        <p:spPr>
          <a:xfrm>
            <a:off x="896112" y="54132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C3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Repo: github.com/pacoxu/AI-Infra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0" y="541324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54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Huge Cluster or Multi-Clusters? Keep the bottleneck visible.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Huge Cluster or Multi-Clusters? Identifying the Bottleneck</dc:title>
  <dc:subject>Huge Cluster or Multi-Clusters deck updated with AI-Infra content</dc:subject>
  <dc:creator>Codex</dc:creator>
  <cp:lastModifiedBy>Codex</cp:lastModifiedBy>
  <cp:revision>1</cp:revision>
  <dcterms:created xsi:type="dcterms:W3CDTF">2026-03-13T07:31:40Z</dcterms:created>
  <dcterms:modified xsi:type="dcterms:W3CDTF">2026-03-13T07:31:40Z</dcterms:modified>
</cp:coreProperties>
</file>